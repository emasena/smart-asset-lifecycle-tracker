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4cc40cad544b0b" /><Relationship Type="http://schemas.openxmlformats.org/officeDocument/2006/relationships/extended-properties" Target="/docProps/app.xml" Id="R7fd54b6ada0c4e5e" /><Relationship Type="http://schemas.openxmlformats.org/officeDocument/2006/relationships/officeDocument" Target="/ppt/presentation.xml" Id="R17dcc7a5c85c4c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11ffba79cd4dfa"/>
  </p:sldMasterIdLst>
  <p:notesMasterIdLst>
    <p:notesMasterId xmlns:r="http://schemas.openxmlformats.org/officeDocument/2006/relationships" r:id="R02919424f9964f16"/>
  </p:notesMasterIdLst>
  <p:sldIdLst>
    <p:sldId xmlns:r="http://schemas.openxmlformats.org/officeDocument/2006/relationships" id="256" r:id="R8fcafdd417854ebc"/>
    <p:sldId xmlns:r="http://schemas.openxmlformats.org/officeDocument/2006/relationships" id="257" r:id="Raa92702816064f56"/>
    <p:sldId xmlns:r="http://schemas.openxmlformats.org/officeDocument/2006/relationships" id="258" r:id="Rbc409a1a85a34f89"/>
    <p:sldId xmlns:r="http://schemas.openxmlformats.org/officeDocument/2006/relationships" id="259" r:id="R82da0fae9d8c4b97"/>
    <p:sldId xmlns:r="http://schemas.openxmlformats.org/officeDocument/2006/relationships" id="260" r:id="Rf22aa923754c4c86"/>
    <p:sldId xmlns:r="http://schemas.openxmlformats.org/officeDocument/2006/relationships" id="261" r:id="R4fea99cc61f645a2"/>
    <p:sldId xmlns:r="http://schemas.openxmlformats.org/officeDocument/2006/relationships" id="262" r:id="R96b70a2d0c744f36"/>
    <p:sldId xmlns:r="http://schemas.openxmlformats.org/officeDocument/2006/relationships" id="263" r:id="Reb24d185d2b341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cafd50fda945ff" /><Relationship Type="http://schemas.openxmlformats.org/officeDocument/2006/relationships/slideMaster" Target="/ppt/slideMasters/slideMaster1.xml" Id="Re611ffba79cd4dfa" /><Relationship Type="http://schemas.openxmlformats.org/officeDocument/2006/relationships/notesMaster" Target="/ppt/notesMasters/notesMaster1.xml" Id="R02919424f9964f16" /><Relationship Type="http://schemas.openxmlformats.org/officeDocument/2006/relationships/presProps" Target="/ppt/presProps.xml" Id="R0433854056d74e49" /><Relationship Type="http://schemas.openxmlformats.org/officeDocument/2006/relationships/tableStyles" Target="/ppt/tableStyles.xml" Id="Rff5107b86e644651" /><Relationship Type="http://schemas.openxmlformats.org/officeDocument/2006/relationships/slide" Target="/ppt/slides/slide1.xml" Id="R8fcafdd417854ebc" /><Relationship Type="http://schemas.openxmlformats.org/officeDocument/2006/relationships/slide" Target="/ppt/slides/slide2.xml" Id="Raa92702816064f56" /><Relationship Type="http://schemas.openxmlformats.org/officeDocument/2006/relationships/slide" Target="/ppt/slides/slide3.xml" Id="Rbc409a1a85a34f89" /><Relationship Type="http://schemas.openxmlformats.org/officeDocument/2006/relationships/slide" Target="/ppt/slides/slide4.xml" Id="R82da0fae9d8c4b97" /><Relationship Type="http://schemas.openxmlformats.org/officeDocument/2006/relationships/slide" Target="/ppt/slides/slide5.xml" Id="Rf22aa923754c4c86" /><Relationship Type="http://schemas.openxmlformats.org/officeDocument/2006/relationships/slide" Target="/ppt/slides/slide6.xml" Id="R4fea99cc61f645a2" /><Relationship Type="http://schemas.openxmlformats.org/officeDocument/2006/relationships/slide" Target="/ppt/slides/slide7.xml" Id="R96b70a2d0c744f36" /><Relationship Type="http://schemas.openxmlformats.org/officeDocument/2006/relationships/slide" Target="/ppt/slides/slide8.xml" Id="Reb24d185d2b341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7cd8f3e330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4fdf2149b745b9" /><Relationship Type="http://schemas.openxmlformats.org/officeDocument/2006/relationships/notesMaster" Target="/ppt/notesMasters/notesMaster1.xml" Id="R1f50b467789c43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41a46167f44c8b" /><Relationship Type="http://schemas.openxmlformats.org/officeDocument/2006/relationships/notesMaster" Target="/ppt/notesMasters/notesMaster1.xml" Id="R298e25a2edad46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61ed40d37d4b80" /><Relationship Type="http://schemas.openxmlformats.org/officeDocument/2006/relationships/notesMaster" Target="/ppt/notesMasters/notesMaster1.xml" Id="R79a737951c0449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5f74836dea4915" /><Relationship Type="http://schemas.openxmlformats.org/officeDocument/2006/relationships/notesMaster" Target="/ppt/notesMasters/notesMaster1.xml" Id="R03944eae78c845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4cd1abafcf423f" /><Relationship Type="http://schemas.openxmlformats.org/officeDocument/2006/relationships/notesMaster" Target="/ppt/notesMasters/notesMaster1.xml" Id="Rd2cdfc10044b46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d6a879082e4dd0" /><Relationship Type="http://schemas.openxmlformats.org/officeDocument/2006/relationships/notesMaster" Target="/ppt/notesMasters/notesMaster1.xml" Id="R91348e6264a941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3f929826b64b1c" /><Relationship Type="http://schemas.openxmlformats.org/officeDocument/2006/relationships/notesMaster" Target="/ppt/notesMasters/notesMaster1.xml" Id="R3f2a7cd9b3974a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3dc5b49c0f47b9" /><Relationship Type="http://schemas.openxmlformats.org/officeDocument/2006/relationships/notesMaster" Target="/ppt/notesMasters/notesMaster1.xml" Id="R9cfcce53d81342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3fd34460742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762a9aa2d4a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b9ae42cbd42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1cdac907a4d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a5094d37e49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5c926884d4f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21B81F2-EE81-44B3-9D7F-83E6F7A1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1F0427-804B-41A2-81B8-E37CCEB02B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EDDBB2D-414A-4968-92C5-BFE83017C0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55113B2-50E4-4B59-9E6D-15BA1893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C00D46-5C0B-4C1A-8140-E8F842DEC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1DB489B-76C5-40C7-BC75-E41DD2FB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58CCA4-D680-4DE7-9EBD-DFAE437219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13F18F4-7A86-451B-B59C-A1315322B3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5CCE104-5445-4525-BAE2-9030A51B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F5C590-5960-4E3D-9B55-75EC9FB837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B80C2B-95D9-4147-9F37-ECD745B4F9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A838EC-97BD-4A71-961E-7A8BE68D5B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2198A1C-2ABB-4F0F-82D8-6977B160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204B25-EC84-4AF9-BFBE-396A773077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89CE5C-A610-40D7-9AE4-6A63E26791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1f0b3e8a3e427b" /><Relationship Type="http://schemas.openxmlformats.org/officeDocument/2006/relationships/slideLayout" Target="/ppt/slideLayouts/slideLayout1.xml" Id="Re56bd5b15dba4a2c" /><Relationship Type="http://schemas.openxmlformats.org/officeDocument/2006/relationships/slideLayout" Target="/ppt/slideLayouts/slideLayout2.xml" Id="R80aa2d43eb664d79" /><Relationship Type="http://schemas.openxmlformats.org/officeDocument/2006/relationships/slideLayout" Target="/ppt/slideLayouts/slideLayout3.xml" Id="R89e054aca7004416" /><Relationship Type="http://schemas.openxmlformats.org/officeDocument/2006/relationships/slideLayout" Target="/ppt/slideLayouts/slideLayout4.xml" Id="R6d1da326a0ee4c45" /><Relationship Type="http://schemas.openxmlformats.org/officeDocument/2006/relationships/slideLayout" Target="/ppt/slideLayouts/slideLayout5.xml" Id="R9637b49f02be43ea" /><Relationship Type="http://schemas.openxmlformats.org/officeDocument/2006/relationships/slideLayout" Target="/ppt/slideLayouts/slideLayout6.xml" Id="R2cc51a6c14c548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6bd5b15dba4a2c"/>
    <p:sldLayoutId xmlns:r="http://schemas.openxmlformats.org/officeDocument/2006/relationships" id="2147483650" r:id="R80aa2d43eb664d79"/>
    <p:sldLayoutId xmlns:r="http://schemas.openxmlformats.org/officeDocument/2006/relationships" id="2147483651" r:id="R89e054aca7004416"/>
    <p:sldLayoutId xmlns:r="http://schemas.openxmlformats.org/officeDocument/2006/relationships" id="2147483652" r:id="R6d1da326a0ee4c45"/>
    <p:sldLayoutId xmlns:r="http://schemas.openxmlformats.org/officeDocument/2006/relationships" id="2147483653" r:id="R9637b49f02be43ea"/>
    <p:sldLayoutId xmlns:r="http://schemas.openxmlformats.org/officeDocument/2006/relationships" id="2147483654" r:id="R2cc51a6c14c548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8bc51fdca4d62" /><Relationship Type="http://schemas.openxmlformats.org/officeDocument/2006/relationships/notesSlide" Target="/ppt/notesSlides/notesSlide1.xml" Id="R884b8fdc287d49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4d281ed1d44543" /><Relationship Type="http://schemas.openxmlformats.org/officeDocument/2006/relationships/notesSlide" Target="/ppt/notesSlides/notesSlide2.xml" Id="R3319ef27cc6b42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e11fdb5f14b5a" /><Relationship Type="http://schemas.openxmlformats.org/officeDocument/2006/relationships/notesSlide" Target="/ppt/notesSlides/notesSlide3.xml" Id="R2e7b8d935a7e46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bea8181774163" /><Relationship Type="http://schemas.openxmlformats.org/officeDocument/2006/relationships/image" Target="/ppt/media/image.png" Id="R88b3a4a87ce148db" /><Relationship Type="http://schemas.openxmlformats.org/officeDocument/2006/relationships/notesSlide" Target="/ppt/notesSlides/notesSlide4.xml" Id="Ra23d7775d5564d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ae7822f414e4b" /><Relationship Type="http://schemas.openxmlformats.org/officeDocument/2006/relationships/image" Target="/ppt/media/image2.png" Id="Re8024bc9998842c5" /><Relationship Type="http://schemas.openxmlformats.org/officeDocument/2006/relationships/image" Target="/ppt/media/image3.png" Id="Raa471a6a04f44781" /><Relationship Type="http://schemas.openxmlformats.org/officeDocument/2006/relationships/image" Target="/ppt/media/image4.png" Id="Ra9c7b3d69dae4143" /><Relationship Type="http://schemas.openxmlformats.org/officeDocument/2006/relationships/image" Target="/ppt/media/image5.png" Id="R00af87d36b17448c" /><Relationship Type="http://schemas.openxmlformats.org/officeDocument/2006/relationships/image" Target="/ppt/media/image6.png" Id="Ra6b5d04abb3d4b1c" /><Relationship Type="http://schemas.openxmlformats.org/officeDocument/2006/relationships/image" Target="/ppt/media/image7.png" Id="R8c1125b72e6d4804" /><Relationship Type="http://schemas.openxmlformats.org/officeDocument/2006/relationships/image" Target="/ppt/media/image8.png" Id="Rc2844f52e79847d5" /><Relationship Type="http://schemas.openxmlformats.org/officeDocument/2006/relationships/image" Target="/ppt/media/image9.png" Id="Rc026df4e91f04b0a" /><Relationship Type="http://schemas.openxmlformats.org/officeDocument/2006/relationships/image" Target="/ppt/media/image10.png" Id="R7ce4c5e57c404026" /><Relationship Type="http://schemas.openxmlformats.org/officeDocument/2006/relationships/image" Target="/ppt/media/image11.png" Id="R3ce5efcca2144bca" /><Relationship Type="http://schemas.openxmlformats.org/officeDocument/2006/relationships/notesSlide" Target="/ppt/notesSlides/notesSlide5.xml" Id="Rba2e6388307640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4e6a58d8a44fe2" /><Relationship Type="http://schemas.openxmlformats.org/officeDocument/2006/relationships/image" Target="/ppt/media/image12.png" Id="R4b537e73c14a4cc6" /><Relationship Type="http://schemas.openxmlformats.org/officeDocument/2006/relationships/notesSlide" Target="/ppt/notesSlides/notesSlide6.xml" Id="R364cff15dd0144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951cf0ad04325" /><Relationship Type="http://schemas.openxmlformats.org/officeDocument/2006/relationships/notesSlide" Target="/ppt/notesSlides/notesSlide7.xml" Id="Rde371aa9a01c41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4075f99f86459f" /><Relationship Type="http://schemas.openxmlformats.org/officeDocument/2006/relationships/notesSlide" Target="/ppt/notesSlides/notesSlide8.xml" Id="R0c4575c1cb7946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CD987-F668-419A-AECB-BECC62DD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9786A-27BD-4251-9EEF-90E7DC88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7F7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87F76"/>
                </a:solidFill>
                <a:latin typeface="DejaVu Sans"/>
                <a:ea typeface="DejaVu Sans"/>
                <a:cs typeface="DejaVu Sans"/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AE6A-3FC1-4F35-885A-0E65A08F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971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3525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Depreciation and</a:t>
            </a:r>
          </a:p>
          <a:p xmlns:a="http://schemas.openxmlformats.org/drawingml/2006/main">
            <a:pPr algn="l">
              <a:defRPr sz="3525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3525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maintenance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21674-BEE3-48E1-976C-6393755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E82"/>
                </a:solidFill>
                <a:latin typeface="DejaVu Serif"/>
                <a:ea typeface="DejaVu Serif"/>
                <a:cs typeface="DejaVu Serif"/>
              </a:defRPr>
            </a:pPr>
            <a:r>
              <a:rPr sz="1800" b="0">
                <a:solidFill>
                  <a:srgbClr val="586E82"/>
                </a:solidFill>
                <a:latin typeface="DejaVu Serif"/>
                <a:ea typeface="DejaVu Serif"/>
                <a:cs typeface="DejaVu Serif"/>
              </a:rPr>
              <a:t>AWS Smart Asset Lifecycle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FB9CD-B95B-4B11-BFB9-D3379E82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676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E3EFE-2CEF-4F06-8058-BFBC5AC4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885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Book value automation • maintenance history • Bedrock recommendations • scheduled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48E15-BA58-45ED-93B4-25B06D9C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3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79F63-9F91-4869-8FD1-E2E32D46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7F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87F76"/>
                </a:solidFill>
                <a:latin typeface="DejaVu Sans"/>
                <a:ea typeface="DejaVu Sans"/>
                <a:cs typeface="DejaVu Sans"/>
              </a:rPr>
              <a:t>AWS Region  us-east-1</a:t>
            </a:r>
          </a:p>
        </p:txBody>
      </p:sp>
    </p:spTree>
    <p:extLst>
      <p:ext uri="{BB962C8B-B14F-4D97-AF65-F5344CB8AC3E}">
        <p14:creationId xmlns:p14="http://schemas.microsoft.com/office/powerpoint/2010/main" val="1265571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013AB7-D327-47A2-803F-4245867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Week 3 milestone achieved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1590E-4D74-4448-B7EE-1C427C2F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The application now turns asset age and condition into financial and maintenance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C8370-CC41-4953-8F6D-F8C7BBDA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EF9BB-26A0-4F46-A1D2-F4FB6AEC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E7D5B"/>
                </a:solidFill>
                <a:latin typeface="DejaVu Serif"/>
                <a:ea typeface="DejaVu Serif"/>
                <a:cs typeface="DejaVu Serif"/>
              </a:defRPr>
            </a:pPr>
            <a:r>
              <a:rPr sz="2625" b="1">
                <a:solidFill>
                  <a:srgbClr val="2E7D5B"/>
                </a:solidFill>
                <a:latin typeface="DejaVu Serif"/>
                <a:ea typeface="DejaVu Serif"/>
                <a:cs typeface="DejaVu Serif"/>
              </a:rPr>
              <a:t>Live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9E694-2F3D-4C58-BF87-B7BEEF59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straight-line book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F34AC-9815-4C1E-B3ED-4BAB29D0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6687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6C94"/>
                </a:solidFill>
                <a:latin typeface="DejaVu Serif"/>
                <a:ea typeface="DejaVu Serif"/>
                <a:cs typeface="DejaVu Serif"/>
              </a:defRPr>
            </a:pPr>
            <a:r>
              <a:rPr sz="2625" b="1">
                <a:solidFill>
                  <a:srgbClr val="146C94"/>
                </a:solidFill>
                <a:latin typeface="DejaVu Serif"/>
                <a:ea typeface="DejaVu Serif"/>
                <a:cs typeface="DejaVu Serif"/>
              </a:rPr>
              <a:t>Daily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58715-66FE-4255-91BA-80E2CEB0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02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scheduled maintenance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E5045-F37F-4CB8-9B44-9103BE40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87F76"/>
                </a:solidFill>
                <a:latin typeface="DejaVu Serif"/>
                <a:ea typeface="DejaVu Serif"/>
                <a:cs typeface="DejaVu Serif"/>
              </a:defRPr>
            </a:pPr>
            <a:r>
              <a:rPr sz="2625" b="1">
                <a:solidFill>
                  <a:srgbClr val="287F76"/>
                </a:solidFill>
                <a:latin typeface="DejaVu Serif"/>
                <a:ea typeface="DejaVu Serif"/>
                <a:cs typeface="DejaVu Serif"/>
              </a:rPr>
              <a:t>Role-aware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F7CBB-E19C-4749-8FAA-C4596F6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02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history and recommendations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946C6-C53C-4D0D-AAD8-B87EA733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66875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856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66717"/>
                </a:solidFill>
                <a:latin typeface="DejaVu Serif"/>
                <a:ea typeface="DejaVu Serif"/>
                <a:cs typeface="DejaVu Serif"/>
              </a:defRPr>
            </a:pPr>
            <a:r>
              <a:rPr sz="2625" b="1">
                <a:solidFill>
                  <a:srgbClr val="A66717"/>
                </a:solidFill>
                <a:latin typeface="DejaVu Serif"/>
                <a:ea typeface="DejaVu Serif"/>
                <a:cs typeface="DejaVu Serif"/>
              </a:rPr>
              <a:t>Human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3E827-D876-442A-88A8-D06D8A4B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02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required for AI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56DF7-B41E-4A6C-B7D8-CC0D206E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12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5B"/>
                </a:solidFill>
                <a:latin typeface="DejaVu Serif"/>
                <a:ea typeface="DejaVu Serif"/>
                <a:cs typeface="DejaVu Serif"/>
              </a:defRPr>
            </a:pPr>
            <a:r>
              <a:rPr sz="1875" b="1">
                <a:solidFill>
                  <a:srgbClr val="2E7D5B"/>
                </a:solidFill>
                <a:latin typeface="DejaVu Serif"/>
                <a:ea typeface="DejaVu Serif"/>
                <a:cs typeface="DejaVu Serif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FEE70-C08B-444A-BCE1-2EB0B9BC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33750"/>
            <a:ext cx="428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Financial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15F42-63D5-4D90-AC59-D4D1237A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576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Purchase value, salvage value, useful life and in-service date produce current book value, life used and replacement date.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97294-EA67-4DB8-9AEF-2EB1B420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12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6C94"/>
                </a:solidFill>
                <a:latin typeface="DejaVu Serif"/>
                <a:ea typeface="DejaVu Serif"/>
                <a:cs typeface="DejaVu Serif"/>
              </a:defRPr>
            </a:pPr>
            <a:r>
              <a:rPr sz="1875" b="1">
                <a:solidFill>
                  <a:srgbClr val="146C94"/>
                </a:solidFill>
                <a:latin typeface="DejaVu Serif"/>
                <a:ea typeface="DejaVu Serif"/>
                <a:cs typeface="DejaVu Serif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1EFC7-B379-4EE6-A4FF-5EC92A14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24375"/>
            <a:ext cx="428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Maintenance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6C5FE-6598-4848-9BDE-1FA2A9BB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8482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Authorized technicians and administrators add preventive or corrective work to the asset history.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3A7B7-C21E-44B7-98DD-F228B631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12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F76"/>
                </a:solidFill>
                <a:latin typeface="DejaVu Serif"/>
                <a:ea typeface="DejaVu Serif"/>
                <a:cs typeface="DejaVu Serif"/>
              </a:defRPr>
            </a:pPr>
            <a:r>
              <a:rPr sz="1875" b="1">
                <a:solidFill>
                  <a:srgbClr val="287F76"/>
                </a:solidFill>
                <a:latin typeface="DejaVu Serif"/>
                <a:ea typeface="DejaVu Serif"/>
                <a:cs typeface="DejaVu Serif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AF582-8EF3-4936-A0AE-B0A5C793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337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Actionable 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7F7B1-A6BF-4643-B8DA-D57261AB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5760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Deterministic schedules and Bedrock advice identify cleaning, maintenance and replacement priorities.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915DA-56FE-45C6-902C-4257CECC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12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66717"/>
                </a:solidFill>
                <a:latin typeface="DejaVu Serif"/>
                <a:ea typeface="DejaVu Serif"/>
                <a:cs typeface="DejaVu Serif"/>
              </a:defRPr>
            </a:pPr>
            <a:r>
              <a:rPr sz="1875" b="1">
                <a:solidFill>
                  <a:srgbClr val="A66717"/>
                </a:solidFill>
                <a:latin typeface="DejaVu Serif"/>
                <a:ea typeface="DejaVu Serif"/>
                <a:cs typeface="DejaVu Serif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B8F7B-D798-44B9-A834-C3457123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24375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Proactive notification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15ED2-3507-4287-B921-2B5493FD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4822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EventBridge runs the daily check and SNS emails a summary of overdue and upcoming work.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9C6615-BE55-4876-AF7D-5A64750B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AWS Smart Asset Lifecycle Tracker  |  Week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C6E9B-4738-47F5-8C9C-71E3AE18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77954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17DEA6-6209-4E12-B04C-604169F8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Straight-line depreciation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F3981-3923-427B-83AE-03176BC5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 deterministic calculation keeps financial values explainable and testable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DD51D-06E6-4C98-9EF4-3CAF588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6E125-1C4A-40F1-9BFD-DE4C95A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4292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BD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AC87B-ED08-4080-842D-B23EEF5E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Monthly depreciation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15921-6580-41C3-92AD-8C4B25B3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1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9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6C94"/>
                </a:solidFill>
                <a:latin typeface="DejaVu Serif"/>
                <a:ea typeface="DejaVu Serif"/>
                <a:cs typeface="DejaVu Serif"/>
              </a:defRPr>
            </a:pPr>
            <a:r>
              <a:rPr sz="1725" b="1">
                <a:solidFill>
                  <a:srgbClr val="146C94"/>
                </a:solidFill>
                <a:latin typeface="DejaVu Serif"/>
                <a:ea typeface="DejaVu Serif"/>
                <a:cs typeface="DejaVu Serif"/>
              </a:rPr>
              <a:t>(purchase value − salvage value) ÷ useful-life months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3262E-2394-4C14-9B1E-089D558E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481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Book value never falls below salvage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13AF7-2B13-4043-9A81-41969D8D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B395F-E9CE-48A2-ACA9-F7645E61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573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Month-aware 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5C05B-ECF6-4700-B56E-78CD8A34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 month counts only after the monthly anniversary; future service dates create no depreciation.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3B02B-7142-47B9-AC12-343C034F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3D701-6E55-47FB-9A33-44A496A8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End-of-life protection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268E2-F52B-46CD-82AB-F0A6F7F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9085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Assets older than useful life stop at salvage value instead of becoming negative.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066E6-6E4D-4096-B1A2-88EE00AC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0AF60-F9CB-4294-812E-CC763C76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528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Replacement forecast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8A709-C5FB-4A6F-A6FD-AAE87F7C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386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Useful life is added to the in-service date, including end-of-month handling.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677FB-75D3-4645-B934-9B03CA43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0ACAF-5698-44F9-A03B-19C520A0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1575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Example asset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64B4-7C1F-422D-9957-17C83FB4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Purchase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E5B08-348E-42D4-93E8-8EC4B1EB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86250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$1,500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57EDA-240C-4C7E-8DE8-C5590D35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E819D-55D7-4686-8E95-413BFEA4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Salvage value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80757-DE49-4B43-AE5A-BA65068D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86300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$100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1BF23-6D6E-4C10-8F24-C6B9D4E9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D4D9CB-F2CF-4EAD-9D10-2C300AA0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Useful life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543A0F-F3F7-4106-8EE5-E63E0FA7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86350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48 months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7F0551-A78D-416F-A74A-C60C286D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721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F9BE29-AA7B-4FB9-9AF1-706B3271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864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After 24 months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DC5D3-1D06-4F65-84DF-1CB81DCC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86400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$800 book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A4C5BF-2EE0-497A-A596-F8BB51B1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BF8443-9FC1-4180-8BD7-DDC1932D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AWS Smart Asset Lifecycle Tracker  |  Week 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14FAFF-0A47-4886-9C6A-AD3D1628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3513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E05E0-651D-4159-90AE-1D7F9870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Lifecycle values in the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C1BB4-1115-4DEB-9ADB-8D4C580A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Every authorized asset can display current book value, life used and estimated replacement 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A44CA-B7F4-46EF-907D-23F6E55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3a4a87ce148db"/>
          <a:stretch xmlns:a="http://schemas.openxmlformats.org/drawingml/2006/main"/>
        </p:blipFill>
        <p:spPr>
          <a:xfrm xmlns:a="http://schemas.openxmlformats.org/drawingml/2006/main">
            <a:off x="1512213" y="1562100"/>
            <a:ext cx="5871925" cy="4476750"/>
          </a:xfrm>
          <a:prstGeom xmlns:a="http://schemas.openxmlformats.org/drawingml/2006/main" prst="roundRect">
            <a:avLst>
              <a:gd name="adj" fmla="val 212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333D5-AACA-4FE3-8F69-ACFDB496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B426B-47DB-49EB-A431-C6E83652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No manual spreadsheet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E9110-A400-43B7-8BC9-977FBD0B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95500"/>
            <a:ext cx="2486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Values are calculated by the API from the asset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D54B6-AD9D-44D8-97B7-3DE4F1CE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563E1-CD76-4B53-B343-82554257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0375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Visible aging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A42DF-B3C1-425F-9BF4-393898DA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486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3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Life-used percentage makes asset age comparable across categories.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5AD57-D8B1-480D-8D08-82717044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35C54-0206-4847-8CF8-4091EC96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91000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Replacement planning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05DBE-9CCA-4AEB-8147-5C3DC21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76750"/>
            <a:ext cx="2486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Forecast dates support budgeting before assets reach end of life.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A49ED-E066-4420-A936-B811EEEE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AWS Smart Asset Lifecycle Tracker  |  Week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F624B-E7A7-403E-9F74-60BBAC7B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6970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79BE4C-AEEA-4181-B5D7-A8D5BCA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Week 3 AWS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FA51D-AF5D-4416-B1B2-4438E501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Secure asset lifecycle management with depreciation, maintenance intelligence and scheduled alerts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205B2-0C83-4825-AA53-6C951325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9CF83-C914-4CF1-8F13-344D30BF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09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7548-839A-4394-800F-BFDCE3F0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43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05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740E5-CD22-4184-A423-6D27BC4C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33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AE009-0016-484D-856A-395C98A0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85900"/>
            <a:ext cx="9858375" cy="4800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19050">
            <a:solidFill>
              <a:srgbClr val="8FA6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63159-3495-41E6-B842-A9ECC8B9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72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AWS Cloud   us-east-1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AB355-B92D-44F9-9B03-DF3D4C81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CF103-BB74-47C4-921C-ADB21CCA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57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7F76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87F76"/>
                </a:solidFill>
                <a:latin typeface="DejaVu Sans"/>
                <a:ea typeface="DejaVu Sans"/>
                <a:cs typeface="DejaVu Sans"/>
              </a:rPr>
              <a:t>APPLICATION REQUEST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24bc9998842c5"/>
          <a:stretch xmlns:a="http://schemas.openxmlformats.org/drawingml/2006/main"/>
        </p:blipFill>
        <p:spPr>
          <a:xfrm xmlns:a="http://schemas.openxmlformats.org/drawingml/2006/main">
            <a:off x="1666875" y="23145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5E00F-2CAF-4D7D-B1AB-DB889E67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432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6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AWS Amplify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2CAFC-5E26-4D00-AEF1-7F20F955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90875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React 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7627A-DA50-4EAA-8F0C-F06CAC77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solidFill>
              <a:srgbClr val="647F9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E3445-F768-47EE-8622-FFB69BB9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43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HTTPS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71a6a04f44781"/>
          <a:stretch xmlns:a="http://schemas.openxmlformats.org/drawingml/2006/main"/>
        </p:blipFill>
        <p:spPr>
          <a:xfrm xmlns:a="http://schemas.openxmlformats.org/drawingml/2006/main">
            <a:off x="3314700" y="23145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1CD82-3261-4512-A9AD-7891EADB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4322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0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Amazon Cognito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6188B-15C3-4DB3-8C5F-28A81FF0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908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Identity and JWT claims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3EE26-DFA9-4FCE-945A-7B5967E7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527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solidFill>
              <a:srgbClr val="647F9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C85F8-3DFF-447A-8199-C0EEB2DB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JWT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7b3d69dae4143"/>
          <a:stretch xmlns:a="http://schemas.openxmlformats.org/drawingml/2006/main"/>
        </p:blipFill>
        <p:spPr>
          <a:xfrm xmlns:a="http://schemas.openxmlformats.org/drawingml/2006/main">
            <a:off x="4962525" y="23145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F8E6E-7D19-4AEB-BD1F-86076E2C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432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API Gateway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8AD5A-735C-4268-82E3-83596FC1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Cognito authorizer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CEE80-D772-4646-B4C8-EA539399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527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solidFill>
              <a:srgbClr val="647F9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A635E-AD66-4825-897A-5476B33F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43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Invoke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f87d36b17448c"/>
          <a:stretch xmlns:a="http://schemas.openxmlformats.org/drawingml/2006/main"/>
        </p:blipFill>
        <p:spPr>
          <a:xfrm xmlns:a="http://schemas.openxmlformats.org/drawingml/2006/main">
            <a:off x="6686550" y="23145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D960C6-BC2F-4EEB-8891-195640BE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432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8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Asset API Lambda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1E187-1E51-46E9-A002-5CC1A24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90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Authorization and lifecycle logic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62A74A-F372-4633-97CA-C55B059D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4476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solidFill>
              <a:srgbClr val="647F9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90C16E-6F0F-4592-9A6A-C48F972F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431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App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F13FA6-B0D1-4C32-BA4A-808972E1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909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6A91F9-9BDC-49BA-9E0F-0A9A6CAB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43300"/>
            <a:ext cx="388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04ACC3-B6D2-4709-9D08-B5709B39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43300"/>
            <a:ext cx="1333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solidFill>
              <a:srgbClr val="647F9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F87B36-6234-462C-A3AF-159FE0C3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67113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783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Read / write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AA1985-EE57-4D1B-99F2-6A4D1C58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43300"/>
            <a:ext cx="1333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solidFill>
              <a:srgbClr val="647F9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8FCF26-F5C7-4D5B-8C23-6E021F11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67113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05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Invoke model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050D0E-4CA5-4581-899F-350E7077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43300"/>
            <a:ext cx="1333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solidFill>
              <a:srgbClr val="647F9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B23805-19BE-486F-9E8C-26CABC79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67113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783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Presign URL</a:t>
            </a:r>
          </a:p>
        </p:txBody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5d04abb3d4b1c"/>
          <a:stretch xmlns:a="http://schemas.openxmlformats.org/drawingml/2006/main"/>
        </p:blipFill>
        <p:spPr>
          <a:xfrm xmlns:a="http://schemas.openxmlformats.org/drawingml/2006/main">
            <a:off x="4991100" y="38290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0299E6-F8CC-4D27-9CC5-01C4D277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577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42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Amazon DynamoDB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5552CE-2509-493B-BA2B-2DA844B2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05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Assets and maintenance history</a:t>
            </a:r>
          </a:p>
        </p:txBody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125b72e6d4804"/>
          <a:stretch xmlns:a="http://schemas.openxmlformats.org/drawingml/2006/main"/>
        </p:blipFill>
        <p:spPr>
          <a:xfrm xmlns:a="http://schemas.openxmlformats.org/drawingml/2006/main">
            <a:off x="6896100" y="38290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31F5BB-9D5F-4A97-8436-3C2D4827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577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Amazon Bedrock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16EAE4-8D90-4E17-BB56-A5146BAC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05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Nova Lite recommendations</a:t>
            </a:r>
          </a:p>
        </p:txBody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44f52e79847d5"/>
          <a:stretch xmlns:a="http://schemas.openxmlformats.org/drawingml/2006/main"/>
        </p:blipFill>
        <p:spPr>
          <a:xfrm xmlns:a="http://schemas.openxmlformats.org/drawingml/2006/main">
            <a:off x="8877300" y="38290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9C541B-A589-46D6-BCAB-EA4306B5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Amazon S3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3050F0-7467-4303-B62B-624A2082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Private asset photos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BA0F73-09E0-4E3F-843A-0D751D13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00625"/>
            <a:ext cx="7810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9E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B6EBD9-3585-4462-9867-0E380992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577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87F76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87F76"/>
                </a:solidFill>
                <a:latin typeface="DejaVu Sans"/>
                <a:ea typeface="DejaVu Sans"/>
                <a:cs typeface="DejaVu Sans"/>
              </a:rPr>
              <a:t>DAILY MAINTENANCE AUTOMATION</a:t>
            </a:r>
          </a:p>
        </p:txBody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6df4e91f04b0a"/>
          <a:stretch xmlns:a="http://schemas.openxmlformats.org/drawingml/2006/main"/>
        </p:blipFill>
        <p:spPr>
          <a:xfrm xmlns:a="http://schemas.openxmlformats.org/drawingml/2006/main">
            <a:off x="1866900" y="5238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83CF87-6BA9-46E5-8E7E-BFC8B4AF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959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EventBridge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931EB0-B68B-471D-A48C-301DCDE2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Daily schedule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9BDAEE-0038-4018-8C81-66670433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9115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solidFill>
              <a:srgbClr val="647F9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24CD77-8483-4BCF-A9C3-FADA2288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816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Trigger</a:t>
            </a:r>
          </a:p>
        </p:txBody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4c5e57c404026"/>
          <a:stretch xmlns:a="http://schemas.openxmlformats.org/drawingml/2006/main"/>
        </p:blipFill>
        <p:spPr>
          <a:xfrm xmlns:a="http://schemas.openxmlformats.org/drawingml/2006/main">
            <a:off x="3486150" y="5238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0E4535-4F26-4562-BFE8-6683384D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959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Scheduler Lambda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1AFCD4-B102-4D39-BC73-9A4ABF71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05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Checks due dates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EA72AC-533B-4B60-B76C-DF4FA410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91150"/>
            <a:ext cx="31432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solidFill>
              <a:srgbClr val="647F9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A8F805-F6C1-4415-B791-526AA008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816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Publish maintenance summary</a:t>
            </a:r>
          </a:p>
        </p:txBody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5efcca2144bca"/>
          <a:stretch xmlns:a="http://schemas.openxmlformats.org/drawingml/2006/main"/>
        </p:blipFill>
        <p:spPr>
          <a:xfrm xmlns:a="http://schemas.openxmlformats.org/drawingml/2006/main">
            <a:off x="7820025" y="5238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C6E811-44DB-4FDC-BBD2-2819DF43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959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Amazon SNS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13722E3-8603-4138-8CE8-93137172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9055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Email notification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7B5BBC-B8C1-4082-B94A-E211D340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577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8B70D5-A98A-4608-8360-190367A4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38700"/>
            <a:ext cx="1590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BECFDD-4B4B-4EED-B22C-FA86CD27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86300"/>
            <a:ext cx="133350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solidFill>
              <a:srgbClr val="647F9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8A2F25-37DF-4FF0-A44F-8A86EE1D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291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Query asset history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8307182-D13C-4A14-8572-D500C151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91150"/>
            <a:ext cx="23812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F95"/>
          </a:solidFill>
          <a:ln xmlns:a="http://schemas.openxmlformats.org/drawingml/2006/main" w="0">
            <a:solidFill>
              <a:srgbClr val="647F9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2EE796-9704-44A8-8CE1-696CC8AD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8160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Notification email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650298-D1F2-4822-BC08-C772EC84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095875"/>
            <a:ext cx="8191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14933A-3CD4-47A1-A8B6-4431EAF1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51339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✉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1FD9F6-BF95-406C-B47E-29F46F9D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5149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794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6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Operations email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471C21-25FA-4AAB-8AA8-84CD213C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AWS Smart Asset Lifecycle Tracker  |  Week 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97459D-9AF3-47FD-B6B9-A6267D88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5191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89AC2-8901-4180-A44A-3ADDA68F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Maintenance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884FA-786C-470D-A751-B38D2077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One asset page combines schedule, history capture and AI-assisted recommendations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46A21-6D34-4C29-9265-B5E41748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37e73c14a4cc6"/>
          <a:stretch xmlns:a="http://schemas.openxmlformats.org/drawingml/2006/main"/>
        </p:blipFill>
        <p:spPr>
          <a:xfrm xmlns:a="http://schemas.openxmlformats.org/drawingml/2006/main">
            <a:off x="1961600" y="1524000"/>
            <a:ext cx="3782524" cy="466725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7A7E5-CBFD-4C21-BFD0-AA5F7AA1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12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5B"/>
                </a:solidFill>
                <a:latin typeface="DejaVu Serif"/>
                <a:ea typeface="DejaVu Serif"/>
                <a:cs typeface="DejaVu Serif"/>
              </a:defRPr>
            </a:pPr>
            <a:r>
              <a:rPr sz="1875" b="1">
                <a:solidFill>
                  <a:srgbClr val="2E7D5B"/>
                </a:solidFill>
                <a:latin typeface="DejaVu Serif"/>
                <a:ea typeface="DejaVu Serif"/>
                <a:cs typeface="DejaVu Serif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FB7D8-E726-4415-A630-BDF6B343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Calculated schedule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7C0CD-2D52-4078-ABAD-80E56F51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907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Condition and maintenance history determine cleaning and service dates, priority and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EFF12-CAF9-4AE3-B95A-13B31140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12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6C94"/>
                </a:solidFill>
                <a:latin typeface="DejaVu Serif"/>
                <a:ea typeface="DejaVu Serif"/>
                <a:cs typeface="DejaVu Serif"/>
              </a:defRPr>
            </a:pPr>
            <a:r>
              <a:rPr sz="1875" b="1">
                <a:solidFill>
                  <a:srgbClr val="146C94"/>
                </a:solidFill>
                <a:latin typeface="DejaVu Serif"/>
                <a:ea typeface="DejaVu Serif"/>
                <a:cs typeface="DejaVu Serif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966FF-547C-446B-8DBD-C64D70BF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5750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Record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BD6DA-4FD5-42CC-B433-82353DD6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813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76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Authorized roles capture type, date, post-maintenance condition, cost and next date.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6BEDF-B069-47FE-9210-9BC43764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12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F76"/>
                </a:solidFill>
                <a:latin typeface="DejaVu Serif"/>
                <a:ea typeface="DejaVu Serif"/>
                <a:cs typeface="DejaVu Serif"/>
              </a:defRPr>
            </a:pPr>
            <a:r>
              <a:rPr sz="1875" b="1">
                <a:solidFill>
                  <a:srgbClr val="287F76"/>
                </a:solidFill>
                <a:latin typeface="DejaVu Serif"/>
                <a:ea typeface="DejaVu Serif"/>
                <a:cs typeface="DejaVu Serif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BF337-A3C1-4B91-8AF6-160CF113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4812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Generate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111B5-09C3-42B5-93A2-D8F278A8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719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Bedrock receives a minimized, server-selected context and returns actions, risk and rationale.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E6B49-49F7-4770-AD76-02021AC9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385762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A6671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85A54-9E6D-444E-8AF5-BE1DFC05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483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671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A66717"/>
                </a:solidFill>
                <a:latin typeface="DejaVu Sans"/>
                <a:ea typeface="DejaVu Sans"/>
                <a:cs typeface="DejaVu Sans"/>
              </a:rPr>
              <a:t>AI output is advisory and remains marked NeedsReview.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FBE79-9676-40D1-A515-ADD6566F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AWS Smart Asset Lifecycle Tracker  |  Week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ABCBF-C666-4CC8-8DDF-872DFD15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78248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1A9163-EC7E-43CB-B06B-F6737068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Daily maintenance alert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D36BA-252B-4B3D-A260-9D14E2B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EventBridge turns lifecycle rules into a proactive operations queue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8EE09-9940-4E92-82FE-91B304EA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33DC5-6A19-48C3-B997-408C3088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621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EEF5"/>
          </a:solidFill>
          <a:ln xmlns:a="http://schemas.openxmlformats.org/drawingml/2006/main" w="19050">
            <a:solidFill>
              <a:srgbClr val="146C9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617D1-AB8E-4643-9BC3-F5DF5B42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EventBridge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1BE8C-FC97-4F49-80BE-AFFCACEE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cron(0 13 * * ? *)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3BCAB-5F58-42F4-866F-1A78476A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286000"/>
            <a:ext cx="523875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DEEF5"/>
          </a:solidFill>
          <a:ln xmlns:a="http://schemas.openxmlformats.org/drawingml/2006/main" w="9525">
            <a:solidFill>
              <a:srgbClr val="146C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C6B54-3797-4077-8E31-BC564472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076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Daily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5CF98-47AE-47E4-B87F-3292D055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19526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7F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1F431-3CEC-48D5-8907-6ADACB0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71700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Scheduler Lambda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D32F0-CAF5-4939-AF19-55541234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384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Loads all asset pages and maintenance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3009D-011E-4000-8B88-31E6BE3A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286000"/>
            <a:ext cx="523875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DEEF5"/>
          </a:solidFill>
          <a:ln xmlns:a="http://schemas.openxmlformats.org/drawingml/2006/main" w="9525">
            <a:solidFill>
              <a:srgbClr val="146C9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D1D8C-BD99-42E3-98E5-23110F24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Evaluate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8809A-67BD-436F-8905-A50BE77B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19526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20AEE-02CE-489B-8EB8-DDE4A782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71700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27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Deterministic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5362B-C60A-44F3-A35C-0BF7084C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384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Current • Due soon • Overdue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59792-24B9-4604-98B1-3291705C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523875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DEEF5"/>
          </a:solidFill>
          <a:ln xmlns:a="http://schemas.openxmlformats.org/drawingml/2006/main" w="9525">
            <a:solidFill>
              <a:srgbClr val="146C9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E8F95-48CE-4650-ABD8-4A1C3398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76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Publish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5D87D-9D1E-406A-82AF-6EA790BA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176212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19050">
            <a:solidFill>
              <a:srgbClr val="A6671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14373-7EE3-4165-BA15-1F33F42D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Amazon SNS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8A88A-96C1-4794-9240-FA5AF307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384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One concise summary message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BA8532-02F0-4319-96AD-F0E5BDDB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10020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BD9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21F6B-DE74-4294-A1F6-248B50B1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16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Notification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D7640E-BC4F-48B4-BD7C-DEDD7944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95AF50-2C33-4AF6-895A-182C18FD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24350"/>
            <a:ext cx="2581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Overdue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BB19F0-0AB9-4CFA-9BD9-C7F1D2CE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10100"/>
            <a:ext cx="2581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Maintenance date has passed; include immediately.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46D20A-222F-40E3-8E02-35844CBA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55339-B9C2-4B54-80E8-245EE320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24350"/>
            <a:ext cx="2581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Due soon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2B93C-3EA0-4204-A935-1EC0FF04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0100"/>
            <a:ext cx="2581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Approaching the configured maintenance horizon.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D2205-3864-4BD4-8677-A6A52FB6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FFBB7D-286A-40BC-8FD9-C94F4B75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2581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Current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C0CFD4-19A2-4DB8-9F3C-E383F7DA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10100"/>
            <a:ext cx="2581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No email entry; avoid alert fatigue.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2D620D-2DFB-49A6-B0C1-4F663C9A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626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Amazon CloudWatch logs each run; AWS X-Ray traces Lambda execution.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E266E3-0EC1-47FE-92C0-A91BB37F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AWS Smart Asset Lifecycle Tracker  |  Week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ED6D74-4159-4064-94B4-38873FF1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2026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E6CFC-9D76-4816-B3FC-980BA819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2550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Security, testing and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97721-C496-42FC-8AAB-97DA2016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Week 3 extends the existing security boundary instead of moving decisions into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242A3-1747-4EE6-AFBB-7190C904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31CD2-DF2E-48D9-83E6-9F6BA35D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ADE2C-7C62-4F02-BD82-C2DED6F0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6687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Server-side authorization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B8579-3EC3-40A7-B09F-0E043317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Cognito claims and asset scope are checked before maintenance reads, writes, AI requests or photo URLs.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60AE9-4D51-4E84-9C0E-65ECE3D0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E4D3E-B5B5-4691-9BB2-E4873564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Least-privilege IAM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1883D-4C55-43D2-906B-49842981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Lambda roles receive only the DynamoDB, Bedrock, S3 or SNS actions required by their function.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45317-1322-49B0-96AF-838B99EA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A5B36-4F59-4A1D-95A7-531038C6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Coverage across edge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134EA-E558-4C58-8716-8DD82C46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43375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Tests include future dates, end-of-month replacement, salvage floors, damaged assets and overdue schedules.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63163-F5C8-48D9-8E9E-DE6A2E66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182F3-84F8-42D9-B343-5FB1EA99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2A3A"/>
                </a:solidFill>
                <a:latin typeface="DejaVu Sans"/>
                <a:ea typeface="DejaVu Sans"/>
                <a:cs typeface="DejaVu Sans"/>
              </a:rPr>
              <a:t>Deployment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E42CC-4EC5-4E35-8871-3C3F2E58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Python compilation, unit tests, SAM lint/build and the Vite production build validate the release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F2D94-2512-4E39-8D15-14CE5E55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DejaVu Serif"/>
                <a:ea typeface="DejaVu Serif"/>
                <a:cs typeface="DejaVu Serif"/>
              </a:defRPr>
            </a:pPr>
            <a:r>
              <a:rPr sz="2025" b="1">
                <a:solidFill>
                  <a:srgbClr val="102A43"/>
                </a:solidFill>
                <a:latin typeface="DejaVu Serif"/>
                <a:ea typeface="DejaVu Serif"/>
                <a:cs typeface="DejaVu Serif"/>
              </a:rPr>
              <a:t>Week 3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853AE-CAF9-43D5-BB23-D840C427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CBD9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E871F-19ED-4CC5-B68D-E970FEA6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86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87F76"/>
                </a:solidFill>
                <a:latin typeface="DejaVu Serif"/>
                <a:ea typeface="DejaVu Serif"/>
                <a:cs typeface="DejaVu Serif"/>
              </a:defRPr>
            </a:pPr>
            <a:r>
              <a:rPr sz="1725" b="1">
                <a:solidFill>
                  <a:srgbClr val="287F76"/>
                </a:solidFill>
                <a:latin typeface="DejaVu Serif"/>
                <a:ea typeface="DejaVu Serif"/>
                <a:cs typeface="DejaVu Serif"/>
              </a:rPr>
              <a:t>The tracker automatically displays an asset’s depreciated value and produces a reasonable maintenance or replacement recommendation.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E6CFA-FC05-4A15-BCA5-CD1A86C8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Ready for demonstration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94624-7B3F-463A-B6DB-625E70E2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244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Inventory → View maintenance → Record history → Generate recommendation → Review scheduled alert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99D78-ADA3-43FE-B449-2BEDD259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AWS Smart Asset Lifecycle Tracker  |  Week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A4B1F-0E9E-4A5B-9FC2-CE33ED3E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86E8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6286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2026-10-03T14:49:42.2410000Z</dcterms:created>
  <dcterms:modified xsi:type="dcterms:W3CDTF">2026-10-03T14:49:42.2410000Z</dcterms:modified>
</coreProperties>
</file>