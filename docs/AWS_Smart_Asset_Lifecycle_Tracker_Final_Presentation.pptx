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1eee9cd82485c" /><Relationship Type="http://schemas.openxmlformats.org/officeDocument/2006/relationships/extended-properties" Target="/docProps/app.xml" Id="R609da06a77a84cec" /><Relationship Type="http://schemas.openxmlformats.org/officeDocument/2006/relationships/officeDocument" Target="/ppt/presentation.xml" Id="R0179d21e2c04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057f5861c4eb1"/>
  </p:sldMasterIdLst>
  <p:notesMasterIdLst>
    <p:notesMasterId xmlns:r="http://schemas.openxmlformats.org/officeDocument/2006/relationships" r:id="Ref5a2cbdf26344bb"/>
  </p:notesMasterIdLst>
  <p:sldIdLst>
    <p:sldId xmlns:r="http://schemas.openxmlformats.org/officeDocument/2006/relationships" id="256" r:id="R0fc90d0df24148d2"/>
    <p:sldId xmlns:r="http://schemas.openxmlformats.org/officeDocument/2006/relationships" id="257" r:id="Rf044e2a4ad4c4f72"/>
    <p:sldId xmlns:r="http://schemas.openxmlformats.org/officeDocument/2006/relationships" id="258" r:id="R4a516b27f5204e43"/>
    <p:sldId xmlns:r="http://schemas.openxmlformats.org/officeDocument/2006/relationships" id="259" r:id="Rdb2901f164f54929"/>
    <p:sldId xmlns:r="http://schemas.openxmlformats.org/officeDocument/2006/relationships" id="260" r:id="Rf52e881261c64712"/>
    <p:sldId xmlns:r="http://schemas.openxmlformats.org/officeDocument/2006/relationships" id="261" r:id="R4ea47fe41a62498a"/>
    <p:sldId xmlns:r="http://schemas.openxmlformats.org/officeDocument/2006/relationships" id="262" r:id="R405b17a0a4ce4083"/>
    <p:sldId xmlns:r="http://schemas.openxmlformats.org/officeDocument/2006/relationships" id="263" r:id="R947ef47fba2e49b1"/>
    <p:sldId xmlns:r="http://schemas.openxmlformats.org/officeDocument/2006/relationships" id="264" r:id="R073053ce8f304401"/>
    <p:sldId xmlns:r="http://schemas.openxmlformats.org/officeDocument/2006/relationships" id="265" r:id="R9672918bafac4af0"/>
    <p:sldId xmlns:r="http://schemas.openxmlformats.org/officeDocument/2006/relationships" id="266" r:id="R21e9674ae0f749e3"/>
    <p:sldId xmlns:r="http://schemas.openxmlformats.org/officeDocument/2006/relationships" id="267" r:id="R72f164447d514208"/>
    <p:sldId xmlns:r="http://schemas.openxmlformats.org/officeDocument/2006/relationships" id="268" r:id="R905ccc0bee88408c"/>
    <p:sldId xmlns:r="http://schemas.openxmlformats.org/officeDocument/2006/relationships" id="269" r:id="Reb033f1fa5974928"/>
    <p:sldId xmlns:r="http://schemas.openxmlformats.org/officeDocument/2006/relationships" id="270" r:id="Rc487d553e49445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c4b9d529b44f7" /><Relationship Type="http://schemas.openxmlformats.org/officeDocument/2006/relationships/slideMaster" Target="/ppt/slideMasters/slideMaster1.xml" Id="R685057f5861c4eb1" /><Relationship Type="http://schemas.openxmlformats.org/officeDocument/2006/relationships/notesMaster" Target="/ppt/notesMasters/notesMaster1.xml" Id="Ref5a2cbdf26344bb" /><Relationship Type="http://schemas.openxmlformats.org/officeDocument/2006/relationships/presProps" Target="/ppt/presProps.xml" Id="R4745de7741404df6" /><Relationship Type="http://schemas.openxmlformats.org/officeDocument/2006/relationships/tableStyles" Target="/ppt/tableStyles.xml" Id="Rd751d650b182420e" /><Relationship Type="http://schemas.openxmlformats.org/officeDocument/2006/relationships/slide" Target="/ppt/slides/slide1.xml" Id="R0fc90d0df24148d2" /><Relationship Type="http://schemas.openxmlformats.org/officeDocument/2006/relationships/slide" Target="/ppt/slides/slide2.xml" Id="Rf044e2a4ad4c4f72" /><Relationship Type="http://schemas.openxmlformats.org/officeDocument/2006/relationships/slide" Target="/ppt/slides/slide3.xml" Id="R4a516b27f5204e43" /><Relationship Type="http://schemas.openxmlformats.org/officeDocument/2006/relationships/slide" Target="/ppt/slides/slide4.xml" Id="Rdb2901f164f54929" /><Relationship Type="http://schemas.openxmlformats.org/officeDocument/2006/relationships/slide" Target="/ppt/slides/slide5.xml" Id="Rf52e881261c64712" /><Relationship Type="http://schemas.openxmlformats.org/officeDocument/2006/relationships/slide" Target="/ppt/slides/slide6.xml" Id="R4ea47fe41a62498a" /><Relationship Type="http://schemas.openxmlformats.org/officeDocument/2006/relationships/slide" Target="/ppt/slides/slide7.xml" Id="R405b17a0a4ce4083" /><Relationship Type="http://schemas.openxmlformats.org/officeDocument/2006/relationships/slide" Target="/ppt/slides/slide8.xml" Id="R947ef47fba2e49b1" /><Relationship Type="http://schemas.openxmlformats.org/officeDocument/2006/relationships/slide" Target="/ppt/slides/slide9.xml" Id="R073053ce8f304401" /><Relationship Type="http://schemas.openxmlformats.org/officeDocument/2006/relationships/slide" Target="/ppt/slides/slide10.xml" Id="R9672918bafac4af0" /><Relationship Type="http://schemas.openxmlformats.org/officeDocument/2006/relationships/slide" Target="/ppt/slides/slide11.xml" Id="R21e9674ae0f749e3" /><Relationship Type="http://schemas.openxmlformats.org/officeDocument/2006/relationships/slide" Target="/ppt/slides/slide12.xml" Id="R72f164447d514208" /><Relationship Type="http://schemas.openxmlformats.org/officeDocument/2006/relationships/slide" Target="/ppt/slides/slide13.xml" Id="R905ccc0bee88408c" /><Relationship Type="http://schemas.openxmlformats.org/officeDocument/2006/relationships/slide" Target="/ppt/slides/slide14.xml" Id="Reb033f1fa5974928" /><Relationship Type="http://schemas.openxmlformats.org/officeDocument/2006/relationships/slide" Target="/ppt/slides/slide15.xml" Id="Rc487d553e494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4169b6921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c815d49e5f4592" /><Relationship Type="http://schemas.openxmlformats.org/officeDocument/2006/relationships/notesMaster" Target="/ppt/notesMasters/notesMaster1.xml" Id="R1e642539f518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79f3771b844647" /><Relationship Type="http://schemas.openxmlformats.org/officeDocument/2006/relationships/notesMaster" Target="/ppt/notesMasters/notesMaster1.xml" Id="R48970b0b350d47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a4d989a88457b" /><Relationship Type="http://schemas.openxmlformats.org/officeDocument/2006/relationships/notesMaster" Target="/ppt/notesMasters/notesMaster1.xml" Id="R1a35b49d7d194a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773092eba4429" /><Relationship Type="http://schemas.openxmlformats.org/officeDocument/2006/relationships/notesMaster" Target="/ppt/notesMasters/notesMaster1.xml" Id="Rd303e245c758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71746fc454e4c" /><Relationship Type="http://schemas.openxmlformats.org/officeDocument/2006/relationships/notesMaster" Target="/ppt/notesMasters/notesMaster1.xml" Id="R5c783fa96cd6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5f9956224040ae" /><Relationship Type="http://schemas.openxmlformats.org/officeDocument/2006/relationships/notesMaster" Target="/ppt/notesMasters/notesMaster1.xml" Id="R85f1cdec82a7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2edfa97c3946f9" /><Relationship Type="http://schemas.openxmlformats.org/officeDocument/2006/relationships/notesMaster" Target="/ppt/notesMasters/notesMaster1.xml" Id="Rc39635167c0144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430469a1949f1" /><Relationship Type="http://schemas.openxmlformats.org/officeDocument/2006/relationships/notesMaster" Target="/ppt/notesMasters/notesMaster1.xml" Id="Rf43b0de147054e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61db2ebe604ce7" /><Relationship Type="http://schemas.openxmlformats.org/officeDocument/2006/relationships/notesMaster" Target="/ppt/notesMasters/notesMaster1.xml" Id="R3b9f2512d6a440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9953e0b64c4042" /><Relationship Type="http://schemas.openxmlformats.org/officeDocument/2006/relationships/notesMaster" Target="/ppt/notesMasters/notesMaster1.xml" Id="R9f9629c68fb948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3a8c5fdfa54425" /><Relationship Type="http://schemas.openxmlformats.org/officeDocument/2006/relationships/notesMaster" Target="/ppt/notesMasters/notesMaster1.xml" Id="R1207cb29fddf47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7d7a1efec44439" /><Relationship Type="http://schemas.openxmlformats.org/officeDocument/2006/relationships/notesMaster" Target="/ppt/notesMasters/notesMaster1.xml" Id="R06201b8e3595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39c158e094443a" /><Relationship Type="http://schemas.openxmlformats.org/officeDocument/2006/relationships/notesMaster" Target="/ppt/notesMasters/notesMaster1.xml" Id="R41a1956869a247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732b7de2664bea" /><Relationship Type="http://schemas.openxmlformats.org/officeDocument/2006/relationships/notesMaster" Target="/ppt/notesMasters/notesMaster1.xml" Id="R894797405f6647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500478e73d4027" /><Relationship Type="http://schemas.openxmlformats.org/officeDocument/2006/relationships/notesMaster" Target="/ppt/notesMasters/notesMaster1.xml" Id="Rabdc030593bd4a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87fa4c7e34e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805b156b049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f3b5c302249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acf4c3216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2b0e409774f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6c45b993840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C05C34-ABC6-4D72-859D-A3F7E1AE5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66A4ED-64C6-4B55-A388-C654B2463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4B828F-3F90-4DFE-9956-2314C91C6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6EDEE0-9D6D-40A0-A510-8CF9D59B2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A46E36-6250-4D96-A421-6053D1E44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85111F-469D-4790-993D-DAC4EC6EB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92C28B-442A-4A3E-A9CC-BA00763A2F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D4D922-45A5-4C31-B9F8-72791838B6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CA5829-CCAB-4A81-BF12-E6DE60A20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C752E4-4218-47E1-A767-70F2F1F80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2fdbfe6644f20" /><Relationship Type="http://schemas.openxmlformats.org/officeDocument/2006/relationships/slideLayout" Target="/ppt/slideLayouts/slideLayout1.xml" Id="Rc048c76e0d6b4439" /><Relationship Type="http://schemas.openxmlformats.org/officeDocument/2006/relationships/slideLayout" Target="/ppt/slideLayouts/slideLayout2.xml" Id="R9a990ffe0fe54691" /><Relationship Type="http://schemas.openxmlformats.org/officeDocument/2006/relationships/slideLayout" Target="/ppt/slideLayouts/slideLayout3.xml" Id="R0900855472c04f7a" /><Relationship Type="http://schemas.openxmlformats.org/officeDocument/2006/relationships/slideLayout" Target="/ppt/slideLayouts/slideLayout4.xml" Id="R404029063fad4dbb" /><Relationship Type="http://schemas.openxmlformats.org/officeDocument/2006/relationships/slideLayout" Target="/ppt/slideLayouts/slideLayout5.xml" Id="Rec7a4e5dfe6e4eef" /><Relationship Type="http://schemas.openxmlformats.org/officeDocument/2006/relationships/slideLayout" Target="/ppt/slideLayouts/slideLayout6.xml" Id="Rfa5fa566765a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8c76e0d6b4439"/>
    <p:sldLayoutId xmlns:r="http://schemas.openxmlformats.org/officeDocument/2006/relationships" id="2147483650" r:id="R9a990ffe0fe54691"/>
    <p:sldLayoutId xmlns:r="http://schemas.openxmlformats.org/officeDocument/2006/relationships" id="2147483651" r:id="R0900855472c04f7a"/>
    <p:sldLayoutId xmlns:r="http://schemas.openxmlformats.org/officeDocument/2006/relationships" id="2147483652" r:id="R404029063fad4dbb"/>
    <p:sldLayoutId xmlns:r="http://schemas.openxmlformats.org/officeDocument/2006/relationships" id="2147483653" r:id="Rec7a4e5dfe6e4eef"/>
    <p:sldLayoutId xmlns:r="http://schemas.openxmlformats.org/officeDocument/2006/relationships" id="2147483654" r:id="Rfa5fa566765a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5a54b9ad94206" /><Relationship Type="http://schemas.openxmlformats.org/officeDocument/2006/relationships/notesSlide" Target="/ppt/notesSlides/notesSlide1.xml" Id="Re85eb4466559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e59914b77458a" /><Relationship Type="http://schemas.openxmlformats.org/officeDocument/2006/relationships/notesSlide" Target="/ppt/notesSlides/notesSlide2.xml" Id="Rbba41dc41c6744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c3906c13c422a" /><Relationship Type="http://schemas.openxmlformats.org/officeDocument/2006/relationships/image" Target="/ppt/media/image.png" Id="Rc5d5cc86caa94f25" /><Relationship Type="http://schemas.openxmlformats.org/officeDocument/2006/relationships/notesSlide" Target="/ppt/notesSlides/notesSlide3.xml" Id="R41d3fc383a6a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ee11bc7d646e0" /><Relationship Type="http://schemas.openxmlformats.org/officeDocument/2006/relationships/notesSlide" Target="/ppt/notesSlides/notesSlide4.xml" Id="R2319ededc190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d859b0fce4ca0" /><Relationship Type="http://schemas.openxmlformats.org/officeDocument/2006/relationships/notesSlide" Target="/ppt/notesSlides/notesSlide5.xml" Id="R89539ddb6af74a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e042dc7824e21" /><Relationship Type="http://schemas.openxmlformats.org/officeDocument/2006/relationships/notesSlide" Target="/ppt/notesSlides/notesSlide6.xml" Id="R30aa9e2c422442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60ae3b1644027" /><Relationship Type="http://schemas.openxmlformats.org/officeDocument/2006/relationships/notesSlide" Target="/ppt/notesSlides/notesSlide7.xml" Id="R135015012852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1ed1cec6f460e" /><Relationship Type="http://schemas.openxmlformats.org/officeDocument/2006/relationships/notesSlide" Target="/ppt/notesSlides/notesSlide8.xml" Id="R40e4a83364ac42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7c5381d6a4849" /><Relationship Type="http://schemas.openxmlformats.org/officeDocument/2006/relationships/image" Target="/ppt/media/image2.png" Id="R53efc49bcf924bc9" /><Relationship Type="http://schemas.openxmlformats.org/officeDocument/2006/relationships/notesSlide" Target="/ppt/notesSlides/notesSlide9.xml" Id="Rcf260bb8614f45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e94af4ff24a48" /><Relationship Type="http://schemas.openxmlformats.org/officeDocument/2006/relationships/image" Target="/ppt/media/image3.png" Id="R7580611d6dba4feb" /><Relationship Type="http://schemas.openxmlformats.org/officeDocument/2006/relationships/notesSlide" Target="/ppt/notesSlides/notesSlide10.xml" Id="R3d1e14415d3a4c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883a8d41f4414" /><Relationship Type="http://schemas.openxmlformats.org/officeDocument/2006/relationships/image" Target="/ppt/media/image4.png" Id="R9584c3eadf6b40d7" /><Relationship Type="http://schemas.openxmlformats.org/officeDocument/2006/relationships/notesSlide" Target="/ppt/notesSlides/notesSlide11.xml" Id="R9c4fbeb9a0f346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c2efa4f3c447c" /><Relationship Type="http://schemas.openxmlformats.org/officeDocument/2006/relationships/image" Target="/ppt/media/image5.png" Id="Rdafb79cc8a98423d" /><Relationship Type="http://schemas.openxmlformats.org/officeDocument/2006/relationships/notesSlide" Target="/ppt/notesSlides/notesSlide12.xml" Id="R6fc35247809a47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b35d259d94ec7" /><Relationship Type="http://schemas.openxmlformats.org/officeDocument/2006/relationships/notesSlide" Target="/ppt/notesSlides/notesSlide13.xml" Id="Rbcc7a2520d2e4a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df929328c4936" /><Relationship Type="http://schemas.openxmlformats.org/officeDocument/2006/relationships/notesSlide" Target="/ppt/notesSlides/notesSlide14.xml" Id="R8a7dbfa26baa47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3dad9a2bd4dc1" /><Relationship Type="http://schemas.openxmlformats.org/officeDocument/2006/relationships/notesSlide" Target="/ppt/notesSlides/notesSlide15.xml" Id="R75eeef6a518d4f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6E3AD-7023-4B6B-90BB-E5A05BCE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67FB3-0AC6-4A5B-951D-193790E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SMART ASSET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LIFECYCLE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A003D-498E-4478-872D-A79C334B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BBD5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BD5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BBD5E5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4032B-AEFA-4FA2-96CC-9E5455A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Four weeks of secure serverless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0776D-7466-4502-8987-03D0F75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2476500" cy="4667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22F47"/>
          </a:solidFill>
          <a:ln xmlns:a="http://schemas.openxmlformats.org/drawingml/2006/main" w="11430">
            <a:solidFill>
              <a:srgbClr val="3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9BD49-5D03-4F0E-8348-A83F62FB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COGNITO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5B45F-B3AE-4B5E-8599-85D21668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FD9B-FF2E-42ED-A5C1-F18F1C85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LAMBDA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C7D22-FEBE-44A5-B719-3D9A266A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DYNAMODB + 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652A1-F68D-4B54-B818-6D82150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FE7D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FE7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E7D9"/>
                </a:solidFill>
                <a:latin typeface="Aptos"/>
                <a:ea typeface="Aptos"/>
                <a:cs typeface="Aptos"/>
              </a:rPr>
              <a:t>BEDROCK + CLOUDWATCH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FC855-AC43-4DB7-9993-9E21423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l">
              <a:defRPr sz="1200" b="0">
                <a:solidFill>
                  <a:srgbClr val="AFC2D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C2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2D0"/>
                </a:solidFill>
                <a:latin typeface="Aptos"/>
                <a:ea typeface="Aptos"/>
                <a:cs typeface="Aptos"/>
              </a:rPr>
              <a:t>Emiliana Sena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3251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4BA53-CE8F-49C1-84F3-2048E91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B69EA-20B9-4DC5-ACA1-1D3BA7F1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9B7CD-F762-473F-B079-F443FE15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 secure system for asset registration, financial tracking, photo analysis, and maintenance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974BD-5FD2-4835-92A2-E38D08D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41E28-3458-4747-8102-97F40136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14"/>
          </a:bodyPr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Give each role the asset information and actions it needs while protecting private data and keeping AI output under human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9E422-2F6E-427F-A17E-7E42C63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50353-CC13-41CE-8BEB-5741C1A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Cognito roles with scoped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E5E68-FF65-4D62-92AC-750A22C4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716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6E953-B9E4-4895-9105-EC5EFD8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Protected business API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D4062-0757-4F24-A3D4-551DC5B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300s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CBF96-F51A-405B-A46C-195611BD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Authorized photo URL lifetime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25BA1-386F-4EC2-9D2B-41754C43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10D65-BC29-490F-9FCD-5F7E68A3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Delivery milestones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9682-8BD4-47A3-BE4E-F81BF4D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Manual entry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E3170-7A38-47FF-AA1E-2689D806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05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Secure photo upload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E93C4-60CB-44F9-9E7A-033586F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Depreciation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49262-834E-4AD9-B3E6-AA88457C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C9D1E-8207-4414-9C76-54C6479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7FA45-1565-4A2D-A0A2-0E4748D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D822A-8BA2-4C99-8F40-00BBDCDB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Private asset data stays behind Cognito authentication and backend authorization.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Bedrock suggests information, while users review and correct the result before saving.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AWS SAM defines the application and CloudWatch provides operational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76766-9C26-498C-8ED1-5A5A05A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B2F64-1AB8-412F-B64E-85B0555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0512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3A6C8-7818-466C-9CBB-852F1A5ED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5cc86caa94f25"/>
          <a:stretch xmlns:a="http://schemas.openxmlformats.org/drawingml/2006/main"/>
        </p:blipFill>
        <p:spPr>
          <a:xfrm xmlns:a="http://schemas.openxmlformats.org/drawingml/2006/main">
            <a:off x="609600" y="854571"/>
            <a:ext cx="10972800" cy="5834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1EEDE-1DAC-4FFB-A6AA-DE342D2C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46098-2FD8-456E-A698-F1B2946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solution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99981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FD3AD-020E-4892-8021-C208A77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 1: Secure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45DC-29B8-4C53-95A3-35EC6F89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6FFCB-2B1C-4698-96D7-A13D04A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first milestone established authentication, protected APIs, asset persistence, and role scoped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5527A-6647-41E7-8DF3-96E6FD4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B26E-9BBA-495D-8853-CAE057C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93514-0A47-4E1A-8373-494410D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AWS SAM defines the API, Lambda functions, Cognito resources, DynamoDB table, and health endpoint.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The React frontend uses Amplify Authenticator for login and logout.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Asset create, list, get, and update operations validate every request.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Unique tag reservations prevent duplicate asset tags during concurrent writes.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ABB7A-6B99-452B-9B12-96FB98B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D8245-A2B5-487B-B96E-58D0918F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DA3CE-7FAB-424F-A4D5-A277A098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All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862B7-4B9D-4AB8-AC4D-05488D0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2711C-6931-4378-9CCC-B955BB8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86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Read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08362-3801-4BFE-AE9D-D6F5831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54AA9-AE67-4DA5-B0A1-77E54022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86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Department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C4091-A036-46F7-8FFF-DD3F4E4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TECHNICIAN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927BF-46E8-4BCC-B7C1-206EB0D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86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Department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9E794-A337-4B15-ABB5-E0F4A9B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EMPLOYEE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3890D-28E0-47F0-B646-0E776A2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86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Assigned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AC83C-2246-4B69-9ED4-4373528D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5979-2E14-45A3-A424-F208777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1136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E9976-1080-4984-AB57-3CD8378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 2: Secure photographs and AI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3B75D-7652-46BE-A193-4453947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FE2E0-3630-4200-88EC-6D9B4F6A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Private uploads trigger Bedrock analysis, but users decide which information becomes authoritative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1F16-ABBC-44E3-802F-3D476F96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20809-AFD7-4A31-9B97-E7D9F08C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Request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5C322-D3F1-47AB-A6B1-8CD703F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Role and file rules checked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F39C0-E843-4170-801E-9241AEA3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6217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9597-23EF-4D33-BB68-F524BB67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38AB5-095D-49EA-AD69-8C3973D2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Private S3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728B1-9949-4024-968B-4CF1560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Presigned POST to pending/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C7712-CCB3-49F1-9E27-5DF230F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6217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9513B-5F3A-483E-8375-3CD2B65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24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7A940-85D5-4D18-A587-09CCB4DB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Bedrock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D3293-1EB1-462A-9648-7D8A7A70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Nova Lite returns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4E364-D492-49C3-B104-F1FF3FB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31974-3025-4F9A-9A08-18E7FE87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8B1F2-49FB-4170-B860-61469931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CCB20-8BAE-443F-A4E0-25A1D9B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Correct or enter manually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FE07B-5DA0-419B-B33A-4C62389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6217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96211-A542-4F29-9348-388661C9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77DE8-1517-4E08-A314-619F29F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Create 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CAFCB-D852-4303-982A-42EB11D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Validated data is stored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D1A87-E911-4472-BCED-D75F6FE0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C7260-E5D9-4407-8F45-260F804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S3 public access is blocked and all objects use server side encryption.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Upload and download access expires automatically.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The model can return NeedsManualEntry when the image lacks enough information.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Only assets authorized by Cognito role appear in the photo gallery.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F8C7F-290F-40AA-B628-D035161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9C83B-451C-4307-9674-AAB75612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2823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1D391-390C-4FC0-97ED-4F5BC574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 3: Depreciation and replacement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37240-1019-446E-902E-AFFAAA5F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BDF18-7025-48AE-AE2B-71B20BA3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Application code calculates values from verified asset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733A4-D31F-4F4C-8F70-2135025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STRAIGHT LINE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BC035-3FEA-42B6-B4D3-A4DAC02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Monthly depreciation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53121-A8F3-4FDA-99CE-C9D241D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>
            <a:defPPr algn="l">
              <a:defRPr sz="23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(purchase value − salvage value) ÷ useful life in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A7F3-30C0-402C-90D4-04A4A7D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457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8F3FA"/>
          </a:solidFill>
          <a:ln xmlns:a="http://schemas.openxmlformats.org/drawingml/2006/main" w="11430">
            <a:solidFill>
              <a:srgbClr val="BBD8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98DFC-E720-46F9-AA72-E164533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45B5D-BF71-4459-8B8F-34AB3EE9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Current book value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Accumulated depreciation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Monthly depreciation amount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52536"/>
                </a:solidFill>
                <a:latin typeface="Aptos"/>
                <a:ea typeface="Aptos"/>
                <a:cs typeface="Aptos"/>
              </a:rPr>
              <a:t>Estimated replacement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44050-9B3E-46BA-A8DB-55600743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>
            <a:defPPr algn="l">
              <a:defRPr sz="16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The calculation never reduces book value below the salvage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2349D-8CF5-4497-9B7C-7A9CC86C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Missing or invalid legacy values return a safe unavailable result.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2536"/>
                </a:solidFill>
                <a:latin typeface="Aptos"/>
                <a:ea typeface="Aptos"/>
                <a:cs typeface="Aptos"/>
              </a:rPr>
              <a:t>Unit tests cover month boundaries, useful life, salvage value, and replacement 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3F59-B4AA-401B-9D87-FD14AB4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9F343-0B7D-4490-86B6-4EFEAD3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5560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6D746-A94F-4FA1-9C38-84145EE9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 3: Maintenance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61B3C-4AB7-4F46-B011-8908E8B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4D70-5E7C-46ED-9D3B-AA6EBF6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Service history, deterministic schedules, and reviewed AI advice share one asset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5E61-7D0E-4846-A6DB-210E120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FA877-A40F-43AC-8BEB-6AA535D8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MAINTENANCE#date#id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33D38-F94E-4A01-9748-58A6AA58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97C28-5C15-42F7-B2D7-1C02C78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E5335-66FB-41C9-8F52-1F3E0381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performedBy from Cognito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ACD17-3BB1-44DC-A531-26764D0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F6C97-5B53-426B-A3A1-2378594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6DED2-336C-4B6D-A47F-395565B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Calculated in application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9D123-7036-44BA-A4AD-492B483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9607D-A7DF-4CE7-BD16-BC6AA77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AI ADVICE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62BCC-F3AC-4712-9052-70575F2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 to 5 validated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15F14-5D18-45EA-A8EF-0C200459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5270-DD3F-4E1B-88E0-7BBF35A4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524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3AB20-A3DC-4036-95DD-FBFB92B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Recommendation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4F2D9-9E90-48E4-9A06-7BDD1075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recommendedActions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CA8F5-8D74-4DBF-AA3A-C2C6E18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riskLevel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31098-B814-44FE-BEE6-11CE261E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rationale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6A266-FB69-4CDA-9C26-13EDE21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reviewStatus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7051F-898A-4E1D-A89E-465CEF8A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687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Administrators manage all maintenance records. Technicians create and edit eligible records for their department.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FC75C-ADFB-41F6-9777-5B1D62C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26B58-92C0-4BB7-8888-C54B20B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714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3B84F-F511-4F45-842C-2956592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 4: Security and operational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7F333-AE43-4D01-AF5B-9E98D4E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19712-EA57-4820-9A78-6316A31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Seven required controls were tested in the application and against the deployed AWS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7B130-8B5A-4B75-AC6C-BA2C6CF7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32CE5-3D90-4685-B9E1-C3EF597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Login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357E5-8516-4DAD-A9CA-478EC70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Signed-out users see Cognito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56270-B2BC-4A5B-BC5C-23539567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3CA06-62E2-4065-8149-7A8B5FC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5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401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D40D3-EAE7-47A9-9086-173057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Missing or invalid token is rejected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950F6-FA88-4462-BEF4-B25BE83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507A9-8439-46E6-8A37-F572DD84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Auditor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40253-3F7C-47C7-B463-773EBE2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Read-only role cannot modify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0BA51-A9C2-484D-ADB4-C0E50F7F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34888-CD78-498F-84DF-AC15954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Private photos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D5840-76D4-4D35-800D-65A6A9E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Direct S3 access returns 403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3A2EB-213A-4BB6-9F34-592A661A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FB208-6EF7-496B-8E02-7686538A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Authorized photos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C7355-7134-418B-9D7C-1E6399FC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Scoped request returns a 300-second URL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ED4CE-946F-4458-A8A6-7B5303F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05544-3054-4F09-9D7B-454B6A6F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 secrets in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93D01-D8DB-4D3B-98D3-5D048DE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Tokens and credentials stay outside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BCE3D-51E6-415B-85B9-3673003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anchor="ctr">
            <a:normAutofit fontScale="79063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FF7A4-9788-422B-813F-F1B9AEB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Input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6F7BE-95EA-4460-A130-B521931B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006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Malformed and unsupported input is rejected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192D6-5144-4AAF-803F-EB57C26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5B370-9C0E-48DD-B23C-C83F32DE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8163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370B1-CFF5-46BF-98AB-0AA4451C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598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evidence: Cognito ID 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329C-0EBA-4185-BC37-576DE2F6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6F0E1-78C3-4BD2-8B9C-48521CA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391400" cy="4781550"/>
          </a:xfrm>
          <a:prstGeom xmlns:a="http://schemas.openxmlformats.org/drawingml/2006/main" prst="roundRect">
            <a:avLst>
              <a:gd name="adj" fmla="val 2390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11430">
            <a:solidFill>
              <a:srgbClr val="C9D6DF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0063-AADE-47D7-AEC1-2FFB7F421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fc49bcf924bc9"/>
          <a:stretch xmlns:a="http://schemas.openxmlformats.org/drawingml/2006/main"/>
        </p:blipFill>
        <p:spPr>
          <a:xfrm xmlns:a="http://schemas.openxmlformats.org/drawingml/2006/main">
            <a:off x="1238137" y="1314450"/>
            <a:ext cx="5981925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79FC6-9C7D-4427-9206-BBD88A91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test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A078B-BA95-4DAF-8430-A596608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2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The API request uses a Cognito ID token. The decoded claim shows token_use: id before the authorized photo request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642B-2767-4ECB-99DB-24DC03C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385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55D6A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55D6A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55D6A9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6B29D-C38D-4C49-BE8E-DEE417C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Token contents were checked locally without storing the token in source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7E62B-C5ED-434B-A108-22E6993D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Week 4 security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A833F-3F03-4475-8A45-8EA07A70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3783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EA840-8E0A-405C-870D-EDB0E67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Security evidence: Authorized photo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C2B2-E692-4B3E-AB88-37110F1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F38A8-F1E5-43F1-882F-85D35AA7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backend authorizes the asset before returning temporary access to the private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FA3AB-4160-4DD6-9499-A16E169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724775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11430">
            <a:solidFill>
              <a:srgbClr val="C9D6D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63AA-78D9-4767-8D12-FF2F7EF75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0611d6dba4feb"/>
          <a:stretch xmlns:a="http://schemas.openxmlformats.org/drawingml/2006/main"/>
        </p:blipFill>
        <p:spPr>
          <a:xfrm xmlns:a="http://schemas.openxmlformats.org/drawingml/2006/main">
            <a:off x="618245" y="1600200"/>
            <a:ext cx="7555084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93C15-3ABE-41D2-9D13-D87AFCA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HTTP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4F3E4-B1A8-4085-9BD7-E7D34EA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38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authenticated request returned the asset analysis and expiresIn: 300. The photo URL was removed from the displayed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CC2A9-DC96-4C9D-AF9C-DEB4B87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>
            <a:defPPr algn="l">
              <a:defRPr sz="43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BB52A-3BC4-4800-BA07-7EB543E6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16BC8-057C-4C07-95DB-C598C2D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Short-lived access limits exposure while allowing authorized users to view the photograph.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11F40-EDE1-4140-89E2-9BA36FD4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Week 4 security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C7BD9-5A79-4CA4-A336-4B9DA7D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9074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AF40A-6896-4EB5-B975-F4AAC71D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Security evidence: Maintenance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A77B3-D6DB-4AEF-8E26-A9403FF0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78769-86D6-43FE-A8BC-22390FB1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maintenance API returns a record whose performer identity came from authenticated server-side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CAAED-3A45-4E47-AAE9-B6B37B3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6962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11430">
            <a:solidFill>
              <a:srgbClr val="C9D6D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B12A0-C49B-4182-BAB1-D1F987816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4c3eadf6b40d7"/>
          <a:stretch xmlns:a="http://schemas.openxmlformats.org/drawingml/2006/main"/>
        </p:blipFill>
        <p:spPr>
          <a:xfrm xmlns:a="http://schemas.openxmlformats.org/drawingml/2006/main">
            <a:off x="1122062" y="1562100"/>
            <a:ext cx="6518876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90D63-42F0-46F1-8951-A236CA0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Lambda status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D24AD-DD97-417B-B817-5DA8CD3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response includes maintenanceId, performedDate, cost, condition, and performedByEmail.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670CF-FFF0-4A13-96E9-BB2D1DB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performedBy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92AD-F184-47BA-AD38-E4FE29D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2"/>
          </a:bodyPr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Trusted Cognito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89845-5702-426D-9F32-D320AC8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client cannot select another user as the service performer.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CEEB-5B37-4D13-9948-1AE647B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Week 4 security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A2CBA-A8CD-4A42-BC4F-614C096C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55370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4FD7D-EF03-4040-A4E7-DB113C82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598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Operational evidence: CloudWatch alarms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E875B-B4AE-494B-B2FD-71B2FB2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3DFE0-F528-472C-B20E-83F1F37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7724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11430">
            <a:solidFill>
              <a:srgbClr val="C9D6DF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3D18E-DB04-46AA-A5CA-6DE3CA6C6F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79cc8a98423d"/>
          <a:stretch xmlns:a="http://schemas.openxmlformats.org/drawingml/2006/main"/>
        </p:blipFill>
        <p:spPr>
          <a:xfrm xmlns:a="http://schemas.openxmlformats.org/drawingml/2006/main">
            <a:off x="609600" y="1603930"/>
            <a:ext cx="7620000" cy="36501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48427-4157-4830-A6AA-41CCA8B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listed alarms: 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BC321-179A-4DBC-9177-B9F4E3C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574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26"/>
          </a:bodyPr>
          <a:lstStyle xmlns:a="http://schemas.openxmlformats.org/drawingml/2006/main">
            <a:defPPr algn="l">
              <a:defRPr sz="12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The monitored signals include API 5XX errors, Lambda errors, throttles, scheduler errors, and DynamoDB read/write throttles.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49264-BF87-471B-83D8-FC064ADD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>
            <a:defPPr algn="l">
              <a:defRPr sz="4350" b="1">
                <a:solidFill>
                  <a:srgbClr val="55D6A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55D6A9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55D6A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0D1C5-CF08-44D9-B90C-55E6110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alarm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CE2A-7C7E-4878-B392-DB2038F5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9C9D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6"/>
                </a:solidFill>
                <a:latin typeface="Aptos"/>
                <a:ea typeface="Aptos"/>
                <a:cs typeface="Aptos"/>
              </a:rPr>
              <a:t>CloudWatch dashboard, X-Ray tracing, SNS actions, and defined log retention support operations after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AEA08-3760-4A8F-B099-68D7B95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Week 4 monitoring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CEA27-2AA3-4E8E-BF89-0573BE84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466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A3193-891A-494F-93D3-88B95B2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Testing and deployment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A0B8B-64F2-4892-9D30-25A92FC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E6541-1522-4735-BB7B-84CB7120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Automated tests, infrastructure validation, and production builds supported the final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72BE4-9233-4C82-B31A-789B8C30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E0642-A124-49EF-A9D2-F01CCAAF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Backend tests passed during final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D9BF-BB6E-49E5-A62E-9825638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FC0AF-D997-45BA-827B-28F5B52A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1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Week 4 security requirement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73909-563B-4A43-BFDF-3538842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097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61D3F-3E58-4486-993B-53A9A706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DynamoDB indexes verified 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A2C03-2F1E-4468-B2BF-89BEE855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D040C-6158-439D-B87B-74E11774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Unresolved conflict markers after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6B2DC-87F5-453B-B3D7-FAD9326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A6D87-2E89-42E3-8D4A-EA43B1BD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5253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52536"/>
                </a:solidFill>
                <a:latin typeface="Aptos"/>
                <a:ea typeface="Aptos"/>
                <a:cs typeface="Aptos"/>
              </a:rPr>
              <a:t>Python modules compiled successfully and the full test suites covered roles, photos, depreciation, maintenance, AI validation, scheduling, and security.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52536"/>
                </a:solidFill>
                <a:latin typeface="Aptos"/>
                <a:ea typeface="Aptos"/>
                <a:cs typeface="Aptos"/>
              </a:rPr>
              <a:t>AWS SAM validate and SAM build completed successfully.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52536"/>
                </a:solidFill>
                <a:latin typeface="Aptos"/>
                <a:ea typeface="Aptos"/>
                <a:cs typeface="Aptos"/>
              </a:rPr>
              <a:t>The Vite production build completed successfully. The bundle-size message remained a non-blocking optimization recommendation.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52536"/>
                </a:solidFill>
                <a:latin typeface="Aptos"/>
                <a:ea typeface="Aptos"/>
                <a:cs typeface="Aptos"/>
              </a:rPr>
              <a:t>CloudFormation updated smart-asset-tracker-dev in us-east-1, and Amplify deploys the main branch.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6AF09-B794-4DB5-9C52-EBB9FA03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9AD1C-11CB-4FB1-89F9-3DF27A1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9129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34838D-28E3-4FA0-8C79-6661F10A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 demonstration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4A553-4F30-4F2F-8A18-D63ACDC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87752-7ACD-42A8-9462-EFA6478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The demonstration moves from denied access to authenticated lifecycle management and monitored logout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40D14-3294-4E0B-B513-7BAE7639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43CDB-4962-43EC-9A64-FA392E0C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Signed-out access blocked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18999-5F8B-4DEB-AC89-60FB5B80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094DD-8E6E-4681-AEE7-285D190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424A-D0CC-4291-B003-4B79E032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3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Cognito 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CDFD5-0A00-4074-A2EE-E295E734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7DDC4-96D5-48FE-A80F-4F1EDE8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93007-C2B3-411C-91A1-0B4ADF5C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Manual asset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84652-482A-4173-B0AD-161B6BF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FC3C0-4594-4ED0-BAFC-66829FE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97637-D776-4C31-95DF-2D83564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3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Photo asset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535F3-0EC7-4562-BA62-D09F6357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1CAE8-B13F-4AA4-A994-41447534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6942F-EB0A-4D53-83B7-21A49062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4AE96-2AE0-4340-B58D-16584D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FA9D1-726C-4735-B984-CB64084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1BF29-E75B-4115-BB66-00074955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Manual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8A751-4119-4EB0-9B34-05E2EF9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9BC42-CE87-4C97-9759-2D17BB2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95E6C-4A3E-41A9-8B58-1273945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Depreciation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A1CF7-EC9F-48E9-B381-397BA30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CEEF1-BA1C-4B68-A2F4-83CD939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2C07A-BF3B-46C3-8FDD-AB1FDCD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Maintenance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CA3E9-6F91-4E81-BD03-DF59A90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814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F2EAE-6016-478A-A9A5-6D0968B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CF885-A0A1-46BA-B8C7-259E1CE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recommendation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A1BBD-7937-4843-A3AA-4746297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9525">
            <a:solidFill>
              <a:srgbClr val="C84C4C"/>
            </a:solidFill>
            <a:prstDash val="solid"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BFED2-AD1C-4EE4-8BD2-BEEC037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Restricted 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1CA32-5031-4556-99C3-054E16E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A6FA6-D5C4-46AB-84DE-2D3C902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CloudWatch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982BE-21D4-4DCF-9738-4458A1AF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D5E80-1D67-4D3F-BF5A-ED405DD5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43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Logout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5850A3-D61B-4817-BB01-A2AFA7D9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Each step produces visible evidence of a required project capability.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211413-319F-4A26-A30E-6306A3A3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78"/>
                </a:solidFill>
                <a:latin typeface="Aptos"/>
                <a:ea typeface="Aptos"/>
                <a:cs typeface="Aptos"/>
              </a:rPr>
              <a:t>AWS Smart Asset Lifecycle Tracker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7297D-CBA7-4749-BB4B-1717F66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C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B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807213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26F4F-4457-4F20-BC4A-BF4B7C7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CC8EB-B9A1-4B3C-A217-9ACB946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9547D-A457-4E8E-8D60-9BC69BD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>
            <a:defPPr algn="l">
              <a:defRPr sz="2100" b="0">
                <a:solidFill>
                  <a:srgbClr val="C7D7E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7D7E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7D7E2"/>
                </a:solidFill>
                <a:latin typeface="Aptos"/>
                <a:ea typeface="Aptos"/>
                <a:cs typeface="Aptos"/>
              </a:rPr>
              <a:t>The application now protects asset data, supports lifecycle decisions, and provides operational evidence in AWS.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6D923-E242-44BB-92E3-5898483A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381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Cognito-protected application and APIs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Private photographs with temporary authorized access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Human-reviewed Bedrock analysis and recommendations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Depreciation and maintenance lifecycle tracking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CloudWatch monitoring and security test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0584-DB7A-4B50-AD38-BD448A58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3048000" cy="40957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22F47"/>
          </a:solidFill>
          <a:ln xmlns:a="http://schemas.openxmlformats.org/drawingml/2006/main" w="11430">
            <a:solidFill>
              <a:srgbClr val="3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E6C3B-D375-4A28-8EF3-85A5974A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85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WORKING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FFFB7-A9B8-4947-A644-0CEF701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main.dx980x98nt3d5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.amplifyapp.com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03A89-AE5C-44CA-B495-EA9075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7A6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A6C7"/>
                </a:solidFill>
                <a:latin typeface="Aptos"/>
                <a:ea typeface="Aptos"/>
                <a:cs typeface="Aptos"/>
              </a:rPr>
              <a:t>TEAM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C8656-FAC1-43C4-A27B-36D27F4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PellizzoniCode/saltracker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ED8D2-C07B-4F16-B331-89C7306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48580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2026-10-10T03:47:59.5180000Z</dcterms:created>
  <dcterms:modified xsi:type="dcterms:W3CDTF">2026-10-10T03:47:59.5180000Z</dcterms:modified>
</coreProperties>
</file>